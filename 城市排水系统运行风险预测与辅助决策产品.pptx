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21.png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20.png"/><Relationship Id="rId20" Type="http://schemas.openxmlformats.org/officeDocument/2006/relationships/notesSlide" Target="../notesSlides/notesSlide4.xml"/><Relationship Id="rId2" Type="http://schemas.openxmlformats.org/officeDocument/2006/relationships/image" Target="../media/image19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25.png"/><Relationship Id="rId17" Type="http://schemas.openxmlformats.org/officeDocument/2006/relationships/image" Target="../media/image24.png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image" Target="../media/image23.png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image" Target="../media/image22.png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47266"/>
            <a:ext cx="4792033" cy="1320115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0" b="1" dirty="0">
                <a:solidFill>
                  <a:srgbClr val="111827"/>
                </a:solidFill>
              </a:rPr>
              <a:t>城市排水系统运行风险预</a:t>
            </a:r>
            <a:r>
              <a:rPr lang="en-US" sz="2860" b="1" dirty="0">
                <a:solidFill>
                  <a:srgbClr val="111827"/>
                </a:solidFill>
              </a:rPr>
              <a:t>测</a:t>
            </a:r>
            <a:r>
              <a:rPr lang="en-US" sz="2860" b="1" dirty="0">
                <a:solidFill>
                  <a:srgbClr val="111827"/>
                </a:solidFill>
              </a:rPr>
              <a:t>
</a:t>
            </a:r>
            <a:r>
              <a:rPr lang="en-US" sz="2860" b="1" dirty="0">
                <a:solidFill>
                  <a:srgbClr val="111827"/>
                </a:solidFill>
              </a:rPr>
              <a:t>与辅助决策产品</a:t>
            </a:r>
            <a:endParaRPr lang="en-US" sz="2860" dirty="0"/>
          </a:p>
        </p:txBody>
      </p:sp>
      <p:sp>
        <p:nvSpPr>
          <p:cNvPr id="4" name="Text 1"/>
          <p:cNvSpPr/>
          <p:nvPr/>
        </p:nvSpPr>
        <p:spPr>
          <a:xfrm>
            <a:off x="578644" y="2053130"/>
            <a:ext cx="4792033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kern="0" spc="1" dirty="0">
                <a:solidFill>
                  <a:srgbClr val="0284C7"/>
                </a:solidFill>
              </a:rPr>
              <a:t>01 目标用户</a:t>
            </a:r>
            <a:endParaRPr lang="en-US" sz="1195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4" y="2431749"/>
            <a:ext cx="87511" cy="1000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1880" y="2388887"/>
            <a:ext cx="3986268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11827"/>
                </a:solidFill>
              </a:rPr>
              <a:t>政府监管人员</a:t>
            </a:r>
            <a:r>
              <a:rPr lang="en-US" sz="940" dirty="0">
                <a:solidFill>
                  <a:srgbClr val="111827"/>
                </a:solidFill>
              </a:rPr>
              <a:t>：负责片区污废水处理运行情况的宏观监控与日常报告。</a:t>
            </a:r>
            <a:endParaRPr lang="en-US" sz="885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44" y="2694617"/>
            <a:ext cx="87511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1880" y="2651754"/>
            <a:ext cx="3986268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11827"/>
                </a:solidFill>
              </a:rPr>
              <a:t>水务运维人员</a:t>
            </a:r>
            <a:r>
              <a:rPr lang="en-US" sz="940" dirty="0">
                <a:solidFill>
                  <a:srgbClr val="111827"/>
                </a:solidFill>
              </a:rPr>
              <a:t>：负责暴雨、节假日等关键节点的风险预判与资源调度。</a:t>
            </a:r>
            <a:endParaRPr lang="en-US" sz="885" dirty="0"/>
          </a:p>
        </p:txBody>
      </p:sp>
      <p:sp>
        <p:nvSpPr>
          <p:cNvPr id="9" name="Text 4"/>
          <p:cNvSpPr/>
          <p:nvPr/>
        </p:nvSpPr>
        <p:spPr>
          <a:xfrm>
            <a:off x="578644" y="3143222"/>
            <a:ext cx="4792033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kern="0" spc="1" dirty="0">
                <a:solidFill>
                  <a:srgbClr val="0284C7"/>
                </a:solidFill>
              </a:rPr>
              <a:t>02 现状问题</a:t>
            </a:r>
            <a:endParaRPr lang="en-US" sz="1195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44" y="3521841"/>
            <a:ext cx="100013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381" y="3478978"/>
            <a:ext cx="4114856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11827"/>
                </a:solidFill>
              </a:rPr>
              <a:t>预测滞后</a:t>
            </a:r>
            <a:r>
              <a:rPr lang="en-US" sz="940" dirty="0">
                <a:solidFill>
                  <a:srgbClr val="111827"/>
                </a:solidFill>
              </a:rPr>
              <a:t>：难以提前准确预测排水负荷，多为事后解决，导致经济损失。</a:t>
            </a:r>
            <a:endParaRPr lang="en-US" sz="885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644" y="3784709"/>
            <a:ext cx="100013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64381" y="3741846"/>
            <a:ext cx="334333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11827"/>
                </a:solidFill>
              </a:rPr>
              <a:t>能力退化</a:t>
            </a:r>
            <a:r>
              <a:rPr lang="en-US" sz="940" dirty="0">
                <a:solidFill>
                  <a:srgbClr val="111827"/>
                </a:solidFill>
              </a:rPr>
              <a:t>：管网运行能力退化严重，缺乏有效的预警机制。</a:t>
            </a:r>
            <a:endParaRPr lang="en-US" sz="885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644" y="4047576"/>
            <a:ext cx="100013" cy="10001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64381" y="4004714"/>
            <a:ext cx="3600506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11827"/>
                </a:solidFill>
              </a:rPr>
              <a:t>损失扩大</a:t>
            </a:r>
            <a:r>
              <a:rPr lang="en-US" sz="940" dirty="0">
                <a:solidFill>
                  <a:srgbClr val="111827"/>
                </a:solidFill>
              </a:rPr>
              <a:t>：事后处理模式可能进一步损害已超负荷的污水系统。</a:t>
            </a:r>
            <a:endParaRPr lang="en-US" sz="885" dirty="0"/>
          </a:p>
        </p:txBody>
      </p:sp>
      <p:sp>
        <p:nvSpPr>
          <p:cNvPr id="16" name="Shape 8"/>
          <p:cNvSpPr/>
          <p:nvPr/>
        </p:nvSpPr>
        <p:spPr>
          <a:xfrm>
            <a:off x="540208" y="4300818"/>
            <a:ext cx="4792033" cy="485775"/>
          </a:xfrm>
          <a:prstGeom prst="rect">
            <a:avLst/>
          </a:prstGeom>
          <a:solidFill>
            <a:srgbClr val="111827"/>
          </a:solidFill>
        </p:spPr>
      </p:sp>
      <p:sp>
        <p:nvSpPr>
          <p:cNvPr id="17" name="Text 9"/>
          <p:cNvSpPr/>
          <p:nvPr/>
        </p:nvSpPr>
        <p:spPr>
          <a:xfrm>
            <a:off x="606132" y="4343680"/>
            <a:ext cx="4706308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FFFFFF"/>
                </a:solidFill>
              </a:rPr>
              <a:t>核心痛点：从“事后补救”转向“事前预判”，解决排水系统运行中由于信息滞后导致的不确定性风险。</a:t>
            </a:r>
            <a:endParaRPr lang="en-US" sz="985" dirty="0"/>
          </a:p>
        </p:txBody>
      </p:sp>
      <p:sp>
        <p:nvSpPr>
          <p:cNvPr id="18" name="Shape 10"/>
          <p:cNvSpPr/>
          <p:nvPr/>
        </p:nvSpPr>
        <p:spPr>
          <a:xfrm>
            <a:off x="5303666" y="4300818"/>
            <a:ext cx="28575" cy="485775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9" name="Shape 11"/>
          <p:cNvSpPr/>
          <p:nvPr/>
        </p:nvSpPr>
        <p:spPr>
          <a:xfrm>
            <a:off x="5370677" y="1178719"/>
            <a:ext cx="3194679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111827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2114" y="1250156"/>
            <a:ext cx="3051804" cy="30718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7986713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</a:rPr>
              <a:t>AI 赋能的排水系统辅助决策方案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114800" y="1139428"/>
            <a:ext cx="914400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2" dirty="0">
                <a:solidFill>
                  <a:srgbClr val="0284C7"/>
                </a:solidFill>
              </a:rPr>
              <a:t>系统运行逻辑架构</a:t>
            </a:r>
            <a:endParaRPr lang="en-US" sz="685" dirty="0"/>
          </a:p>
        </p:txBody>
      </p:sp>
      <p:sp>
        <p:nvSpPr>
          <p:cNvPr id="5" name="Shape 2"/>
          <p:cNvSpPr/>
          <p:nvPr/>
        </p:nvSpPr>
        <p:spPr>
          <a:xfrm>
            <a:off x="1357313" y="1391245"/>
            <a:ext cx="6429375" cy="2143125"/>
          </a:xfrm>
          <a:prstGeom prst="rect">
            <a:avLst/>
          </a:prstGeom>
          <a:solidFill>
            <a:srgbClr val="FFFFFF"/>
          </a:solidFill>
          <a:ln w="9144">
            <a:solidFill>
              <a:srgbClr val="111827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462683"/>
            <a:ext cx="6286500" cy="2000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57313" y="3641527"/>
            <a:ext cx="400050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11827"/>
                </a:solidFill>
              </a:rPr>
              <a:t>数据输入</a:t>
            </a:r>
            <a:endParaRPr lang="en-US" sz="685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131" y="3641527"/>
            <a:ext cx="62508" cy="1446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849407" y="3641527"/>
            <a:ext cx="333942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11827"/>
                </a:solidFill>
              </a:rPr>
              <a:t>AI 预测</a:t>
            </a:r>
            <a:endParaRPr lang="en-US" sz="685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118" y="3641527"/>
            <a:ext cx="62508" cy="14466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75395" y="3641527"/>
            <a:ext cx="400050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11827"/>
                </a:solidFill>
              </a:rPr>
              <a:t>风险评估</a:t>
            </a:r>
            <a:endParaRPr lang="en-US" sz="685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0213" y="3641527"/>
            <a:ext cx="62508" cy="14466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767490" y="3641527"/>
            <a:ext cx="52707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11827"/>
                </a:solidFill>
              </a:rPr>
              <a:t>解释 &amp; 建议</a:t>
            </a:r>
            <a:endParaRPr lang="en-US" sz="685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9333" y="3641527"/>
            <a:ext cx="62508" cy="14466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386610" y="3641527"/>
            <a:ext cx="400050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11827"/>
                </a:solidFill>
              </a:rPr>
              <a:t>人做决策</a:t>
            </a:r>
            <a:endParaRPr lang="en-US" sz="685" dirty="0"/>
          </a:p>
        </p:txBody>
      </p:sp>
      <p:sp>
        <p:nvSpPr>
          <p:cNvPr id="16" name="Text 8"/>
          <p:cNvSpPr/>
          <p:nvPr/>
        </p:nvSpPr>
        <p:spPr>
          <a:xfrm>
            <a:off x="578644" y="4314825"/>
            <a:ext cx="2471738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827"/>
                </a:solidFill>
              </a:rPr>
              <a:t>01 产品不替代人</a:t>
            </a:r>
            <a:endParaRPr lang="en-US" sz="985" dirty="0"/>
          </a:p>
        </p:txBody>
      </p:sp>
      <p:sp>
        <p:nvSpPr>
          <p:cNvPr id="17" name="Text 9"/>
          <p:cNvSpPr/>
          <p:nvPr/>
        </p:nvSpPr>
        <p:spPr>
          <a:xfrm>
            <a:off x="578644" y="4607719"/>
            <a:ext cx="2471738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B5563"/>
                </a:solidFill>
              </a:rPr>
              <a:t>AI 提供科学、量化的数据支撑，最终决策权始终由专业运维人员掌控，确保复杂工况下的决策安全性。</a:t>
            </a:r>
            <a:endParaRPr lang="en-US" sz="835" dirty="0"/>
          </a:p>
        </p:txBody>
      </p:sp>
      <p:sp>
        <p:nvSpPr>
          <p:cNvPr id="18" name="Text 10"/>
          <p:cNvSpPr/>
          <p:nvPr/>
        </p:nvSpPr>
        <p:spPr>
          <a:xfrm>
            <a:off x="3336131" y="4314825"/>
            <a:ext cx="2471738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827"/>
                </a:solidFill>
              </a:rPr>
              <a:t>02 缩短决策时间</a:t>
            </a:r>
            <a:endParaRPr lang="en-US" sz="985" dirty="0"/>
          </a:p>
        </p:txBody>
      </p:sp>
      <p:sp>
        <p:nvSpPr>
          <p:cNvPr id="19" name="Text 11"/>
          <p:cNvSpPr/>
          <p:nvPr/>
        </p:nvSpPr>
        <p:spPr>
          <a:xfrm>
            <a:off x="3336131" y="4607719"/>
            <a:ext cx="247173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B5563"/>
                </a:solidFill>
              </a:rPr>
              <a:t>通过 24-72 小时的提前预测，将“被动响应”转为“主动预判”，为资源调度争取关键的黄金时间。</a:t>
            </a:r>
            <a:endParaRPr lang="en-US" sz="835" dirty="0"/>
          </a:p>
        </p:txBody>
      </p:sp>
      <p:sp>
        <p:nvSpPr>
          <p:cNvPr id="20" name="Text 12"/>
          <p:cNvSpPr/>
          <p:nvPr/>
        </p:nvSpPr>
        <p:spPr>
          <a:xfrm>
            <a:off x="6093619" y="4314825"/>
            <a:ext cx="2471738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827"/>
                </a:solidFill>
              </a:rPr>
              <a:t>03 降低风险不确定性</a:t>
            </a:r>
            <a:endParaRPr lang="en-US" sz="985" dirty="0"/>
          </a:p>
        </p:txBody>
      </p:sp>
      <p:sp>
        <p:nvSpPr>
          <p:cNvPr id="21" name="Text 13"/>
          <p:cNvSpPr/>
          <p:nvPr/>
        </p:nvSpPr>
        <p:spPr>
          <a:xfrm>
            <a:off x="6093619" y="4607719"/>
            <a:ext cx="247173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B5563"/>
                </a:solidFill>
              </a:rPr>
              <a:t>将模糊的经验判断转化为精准的风险等级与因素识别，显著提升城市排水系统的运行韧性。</a:t>
            </a:r>
            <a:endParaRPr lang="en-US" sz="835" dirty="0"/>
          </a:p>
        </p:txBody>
      </p:sp>
      <p:sp>
        <p:nvSpPr>
          <p:cNvPr id="22" name="Text 14"/>
          <p:cNvSpPr/>
          <p:nvPr/>
        </p:nvSpPr>
        <p:spPr>
          <a:xfrm>
            <a:off x="6445114" y="4734520"/>
            <a:ext cx="2120243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9CA3AF"/>
                </a:solidFill>
              </a:rPr>
              <a:t>PRODUCT POSITIONING &amp; SYSTEM ARCHITECTURE</a:t>
            </a:r>
            <a:endParaRPr lang="en-US" sz="5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7986713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</a:rPr>
              <a:t>全链路风险识别与决策支持功能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8644" y="1139428"/>
            <a:ext cx="2519372" cy="1667675"/>
          </a:xfrm>
          <a:prstGeom prst="rect">
            <a:avLst/>
          </a:prstGeom>
          <a:solidFill>
            <a:srgbClr val="FFFFFF"/>
          </a:solidFill>
          <a:ln w="9144">
            <a:solidFill>
              <a:srgbClr val="1118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8644" y="1139428"/>
            <a:ext cx="2509828" cy="360759"/>
          </a:xfrm>
          <a:prstGeom prst="rect">
            <a:avLst/>
          </a:prstGeom>
          <a:solidFill>
            <a:srgbClr val="111827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9" y="1255514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1544" y="1225153"/>
            <a:ext cx="1030905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排水负荷预测 (AI)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721519" y="1643063"/>
            <a:ext cx="2224078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0284C7"/>
                </a:solidFill>
              </a:rPr>
              <a:t>INPUT</a:t>
            </a:r>
            <a:endParaRPr lang="en-US" sz="585" dirty="0"/>
          </a:p>
        </p:txBody>
      </p:sp>
      <p:sp>
        <p:nvSpPr>
          <p:cNvPr id="9" name="Text 5"/>
          <p:cNvSpPr/>
          <p:nvPr/>
        </p:nvSpPr>
        <p:spPr>
          <a:xfrm>
            <a:off x="721519" y="1789509"/>
            <a:ext cx="2137488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111827"/>
                </a:solidFill>
              </a:rPr>
              <a:t>历史排水量、降雨量、用水人数、生产/浇洒用水</a:t>
            </a:r>
            <a:endParaRPr lang="en-US" sz="725" dirty="0"/>
          </a:p>
        </p:txBody>
      </p:sp>
      <p:sp>
        <p:nvSpPr>
          <p:cNvPr id="10" name="Text 6"/>
          <p:cNvSpPr/>
          <p:nvPr/>
        </p:nvSpPr>
        <p:spPr>
          <a:xfrm>
            <a:off x="721519" y="2034880"/>
            <a:ext cx="2224078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0284C7"/>
                </a:solidFill>
              </a:rPr>
              <a:t>OUTPUT</a:t>
            </a:r>
            <a:endParaRPr lang="en-US" sz="585" dirty="0"/>
          </a:p>
        </p:txBody>
      </p:sp>
      <p:sp>
        <p:nvSpPr>
          <p:cNvPr id="11" name="Text 7"/>
          <p:cNvSpPr/>
          <p:nvPr/>
        </p:nvSpPr>
        <p:spPr>
          <a:xfrm>
            <a:off x="721519" y="2181327"/>
            <a:ext cx="1913241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111827"/>
                </a:solidFill>
              </a:rPr>
              <a:t>未来 24-72 小时排水负荷区间及趋势变化图</a:t>
            </a:r>
            <a:endParaRPr lang="en-US" sz="725" dirty="0"/>
          </a:p>
        </p:txBody>
      </p:sp>
      <p:sp>
        <p:nvSpPr>
          <p:cNvPr id="12" name="Text 8"/>
          <p:cNvSpPr/>
          <p:nvPr/>
        </p:nvSpPr>
        <p:spPr>
          <a:xfrm>
            <a:off x="721519" y="2426698"/>
            <a:ext cx="2224078" cy="223242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i="1" dirty="0">
                <a:solidFill>
                  <a:srgbClr val="111827"/>
                </a:solidFill>
              </a:rPr>
              <a:t>价值：实现对未来排水压力的精准“天气预报”</a:t>
            </a:r>
            <a:endParaRPr lang="en-US" sz="685" dirty="0"/>
          </a:p>
        </p:txBody>
      </p:sp>
      <p:sp>
        <p:nvSpPr>
          <p:cNvPr id="13" name="Shape 9"/>
          <p:cNvSpPr/>
          <p:nvPr/>
        </p:nvSpPr>
        <p:spPr>
          <a:xfrm>
            <a:off x="3302784" y="1139428"/>
            <a:ext cx="2524116" cy="1667675"/>
          </a:xfrm>
          <a:prstGeom prst="rect">
            <a:avLst/>
          </a:prstGeom>
          <a:solidFill>
            <a:srgbClr val="FFFFFF"/>
          </a:solidFill>
          <a:ln w="9144">
            <a:solidFill>
              <a:srgbClr val="11182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07556" y="1139428"/>
            <a:ext cx="2514600" cy="360759"/>
          </a:xfrm>
          <a:prstGeom prst="rect">
            <a:avLst/>
          </a:prstGeom>
          <a:solidFill>
            <a:srgbClr val="111827"/>
          </a:solidFill>
        </p:spPr>
      </p:sp>
      <p:sp>
        <p:nvSpPr>
          <p:cNvPr id="15" name="Text 11"/>
          <p:cNvSpPr/>
          <p:nvPr/>
        </p:nvSpPr>
        <p:spPr>
          <a:xfrm>
            <a:off x="3521869" y="1225153"/>
            <a:ext cx="1149334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运行风险评估 (规则)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3450431" y="1643063"/>
            <a:ext cx="2228850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0284C7"/>
                </a:solidFill>
              </a:rPr>
              <a:t>INPUT</a:t>
            </a:r>
            <a:endParaRPr lang="en-US" sz="585" dirty="0"/>
          </a:p>
        </p:txBody>
      </p:sp>
      <p:sp>
        <p:nvSpPr>
          <p:cNvPr id="17" name="Text 13"/>
          <p:cNvSpPr/>
          <p:nvPr/>
        </p:nvSpPr>
        <p:spPr>
          <a:xfrm>
            <a:off x="3450431" y="1789509"/>
            <a:ext cx="2000250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111827"/>
                </a:solidFill>
              </a:rPr>
              <a:t>预测负荷数据、系统设计处理能力、风险阈值</a:t>
            </a:r>
            <a:endParaRPr lang="en-US" sz="725" dirty="0"/>
          </a:p>
        </p:txBody>
      </p:sp>
      <p:sp>
        <p:nvSpPr>
          <p:cNvPr id="18" name="Text 14"/>
          <p:cNvSpPr/>
          <p:nvPr/>
        </p:nvSpPr>
        <p:spPr>
          <a:xfrm>
            <a:off x="3450431" y="2034880"/>
            <a:ext cx="2228850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0284C7"/>
                </a:solidFill>
              </a:rPr>
              <a:t>OUTPUT</a:t>
            </a:r>
            <a:endParaRPr lang="en-US" sz="585" dirty="0"/>
          </a:p>
        </p:txBody>
      </p:sp>
      <p:sp>
        <p:nvSpPr>
          <p:cNvPr id="19" name="Text 15"/>
          <p:cNvSpPr/>
          <p:nvPr/>
        </p:nvSpPr>
        <p:spPr>
          <a:xfrm>
            <a:off x="3450431" y="2181327"/>
            <a:ext cx="1274573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111827"/>
                </a:solidFill>
              </a:rPr>
              <a:t>量化的风险等级（高/中/低）</a:t>
            </a:r>
            <a:endParaRPr lang="en-US" sz="725" dirty="0"/>
          </a:p>
        </p:txBody>
      </p:sp>
      <p:sp>
        <p:nvSpPr>
          <p:cNvPr id="20" name="Text 16"/>
          <p:cNvSpPr/>
          <p:nvPr/>
        </p:nvSpPr>
        <p:spPr>
          <a:xfrm>
            <a:off x="3450431" y="2426698"/>
            <a:ext cx="2228850" cy="223242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i="1" dirty="0">
                <a:solidFill>
                  <a:srgbClr val="111827"/>
                </a:solidFill>
              </a:rPr>
              <a:t>价值：将复杂数据转化为直观的预警信号</a:t>
            </a:r>
            <a:endParaRPr lang="en-US" sz="685" dirty="0"/>
          </a:p>
        </p:txBody>
      </p:sp>
      <p:sp>
        <p:nvSpPr>
          <p:cNvPr id="21" name="Shape 17"/>
          <p:cNvSpPr/>
          <p:nvPr/>
        </p:nvSpPr>
        <p:spPr>
          <a:xfrm>
            <a:off x="6036469" y="1139428"/>
            <a:ext cx="2528888" cy="1667675"/>
          </a:xfrm>
          <a:prstGeom prst="rect">
            <a:avLst/>
          </a:prstGeom>
          <a:solidFill>
            <a:srgbClr val="FFFFFF"/>
          </a:solidFill>
          <a:ln w="9144">
            <a:solidFill>
              <a:srgbClr val="11182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46012" y="1139428"/>
            <a:ext cx="2519372" cy="360759"/>
          </a:xfrm>
          <a:prstGeom prst="rect">
            <a:avLst/>
          </a:prstGeom>
          <a:solidFill>
            <a:srgbClr val="111827"/>
          </a:solidFill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887" y="1255514"/>
            <a:ext cx="96441" cy="128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56765" y="1225153"/>
            <a:ext cx="1312636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风险说明 &amp; 建议 (解释)</a:t>
            </a:r>
            <a:endParaRPr lang="en-US" sz="885" dirty="0"/>
          </a:p>
        </p:txBody>
      </p:sp>
      <p:sp>
        <p:nvSpPr>
          <p:cNvPr id="25" name="Text 20"/>
          <p:cNvSpPr/>
          <p:nvPr/>
        </p:nvSpPr>
        <p:spPr>
          <a:xfrm>
            <a:off x="6188887" y="1643063"/>
            <a:ext cx="2233622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0284C7"/>
                </a:solidFill>
              </a:rPr>
              <a:t>INPUT</a:t>
            </a:r>
            <a:endParaRPr lang="en-US" sz="585" dirty="0"/>
          </a:p>
        </p:txBody>
      </p:sp>
      <p:sp>
        <p:nvSpPr>
          <p:cNvPr id="26" name="Text 21"/>
          <p:cNvSpPr/>
          <p:nvPr/>
        </p:nvSpPr>
        <p:spPr>
          <a:xfrm>
            <a:off x="6188887" y="1789509"/>
            <a:ext cx="1950244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111827"/>
                </a:solidFill>
              </a:rPr>
              <a:t>风险上升因素（降雨、人口等）、专家知识库</a:t>
            </a:r>
            <a:endParaRPr lang="en-US" sz="725" dirty="0"/>
          </a:p>
        </p:txBody>
      </p:sp>
      <p:sp>
        <p:nvSpPr>
          <p:cNvPr id="27" name="Text 22"/>
          <p:cNvSpPr/>
          <p:nvPr/>
        </p:nvSpPr>
        <p:spPr>
          <a:xfrm>
            <a:off x="6188887" y="2034880"/>
            <a:ext cx="2233622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0284C7"/>
                </a:solidFill>
              </a:rPr>
              <a:t>OUTPUT</a:t>
            </a:r>
            <a:endParaRPr lang="en-US" sz="585" dirty="0"/>
          </a:p>
        </p:txBody>
      </p:sp>
      <p:sp>
        <p:nvSpPr>
          <p:cNvPr id="28" name="Text 23"/>
          <p:cNvSpPr/>
          <p:nvPr/>
        </p:nvSpPr>
        <p:spPr>
          <a:xfrm>
            <a:off x="6188887" y="2181327"/>
            <a:ext cx="1500188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111827"/>
                </a:solidFill>
              </a:rPr>
              <a:t>风险来源识别与可执行的运维建议</a:t>
            </a:r>
            <a:endParaRPr lang="en-US" sz="725" dirty="0"/>
          </a:p>
        </p:txBody>
      </p:sp>
      <p:sp>
        <p:nvSpPr>
          <p:cNvPr id="29" name="Text 24"/>
          <p:cNvSpPr/>
          <p:nvPr/>
        </p:nvSpPr>
        <p:spPr>
          <a:xfrm>
            <a:off x="6188887" y="2426698"/>
            <a:ext cx="2233622" cy="223242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i="1" dirty="0">
                <a:solidFill>
                  <a:srgbClr val="111827"/>
                </a:solidFill>
              </a:rPr>
              <a:t>价值：提供“可解释”的依据，辅助快速预案</a:t>
            </a:r>
            <a:endParaRPr lang="en-US" sz="685" dirty="0"/>
          </a:p>
        </p:txBody>
      </p:sp>
      <p:sp>
        <p:nvSpPr>
          <p:cNvPr id="30" name="Shape 25"/>
          <p:cNvSpPr/>
          <p:nvPr/>
        </p:nvSpPr>
        <p:spPr>
          <a:xfrm>
            <a:off x="1000125" y="3078566"/>
            <a:ext cx="7143750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111827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392" y="3114284"/>
            <a:ext cx="2931616" cy="14906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7986713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</a:rPr>
              <a:t>明确 AI 边界，构建人机协作闭环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8644" y="1067991"/>
            <a:ext cx="7986713" cy="1644458"/>
          </a:xfrm>
          <a:prstGeom prst="rect">
            <a:avLst/>
          </a:prstGeom>
          <a:solidFill>
            <a:srgbClr val="FFFFFF"/>
          </a:solidFill>
          <a:ln w="18288">
            <a:solidFill>
              <a:srgbClr val="1118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8644" y="1067991"/>
            <a:ext cx="3986213" cy="378619"/>
          </a:xfrm>
          <a:prstGeom prst="rect">
            <a:avLst/>
          </a:prstGeom>
          <a:solidFill>
            <a:srgbClr val="0284C7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331" y="1193006"/>
            <a:ext cx="185738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386068" y="1166217"/>
            <a:ext cx="557073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kern="0" spc="1" dirty="0">
                <a:solidFill>
                  <a:srgbClr val="FFFFFF"/>
                </a:solidFill>
              </a:rPr>
              <a:t>使用 AI</a:t>
            </a:r>
            <a:endParaRPr lang="en-US" sz="985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81" y="1669293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>
            <p:custDataLst>
              <p:tags r:id="rId4"/>
            </p:custDataLst>
          </p:nvPr>
        </p:nvSpPr>
        <p:spPr>
          <a:xfrm>
            <a:off x="1135856" y="1575197"/>
            <a:ext cx="2000250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</a:rPr>
              <a:t>趋势预测</a:t>
            </a:r>
            <a:endParaRPr lang="en-US" sz="885" dirty="0"/>
          </a:p>
        </p:txBody>
      </p:sp>
      <p:sp>
        <p:nvSpPr>
          <p:cNvPr id="10" name="Text 5"/>
          <p:cNvSpPr/>
          <p:nvPr>
            <p:custDataLst>
              <p:tags r:id="rId5"/>
            </p:custDataLst>
          </p:nvPr>
        </p:nvSpPr>
        <p:spPr>
          <a:xfrm>
            <a:off x="1135856" y="1793081"/>
            <a:ext cx="2000250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B5563"/>
                </a:solidFill>
              </a:rPr>
              <a:t>基于多维历史与实时数据的排水负荷演变预测</a:t>
            </a:r>
            <a:endParaRPr lang="en-US" sz="725" dirty="0"/>
          </a:p>
        </p:txBody>
      </p:sp>
      <p:sp>
        <p:nvSpPr>
          <p:cNvPr id="11" name="Text 6"/>
          <p:cNvSpPr/>
          <p:nvPr>
            <p:custDataLst>
              <p:tags r:id="rId6"/>
            </p:custDataLst>
          </p:nvPr>
        </p:nvSpPr>
        <p:spPr>
          <a:xfrm>
            <a:off x="1135856" y="2197401"/>
            <a:ext cx="2500313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</a:rPr>
              <a:t>因素识别</a:t>
            </a:r>
            <a:endParaRPr lang="en-US" sz="885" dirty="0"/>
          </a:p>
        </p:txBody>
      </p:sp>
      <p:sp>
        <p:nvSpPr>
          <p:cNvPr id="12" name="Text 7"/>
          <p:cNvSpPr/>
          <p:nvPr>
            <p:custDataLst>
              <p:tags r:id="rId7"/>
            </p:custDataLst>
          </p:nvPr>
        </p:nvSpPr>
        <p:spPr>
          <a:xfrm>
            <a:off x="1135856" y="2415285"/>
            <a:ext cx="2500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B5563"/>
                </a:solidFill>
              </a:rPr>
              <a:t>自动识别导致风险上升的核心驱动因子（如降雨、人口）</a:t>
            </a:r>
            <a:endParaRPr lang="en-US" sz="725" dirty="0"/>
          </a:p>
        </p:txBody>
      </p:sp>
      <p:sp>
        <p:nvSpPr>
          <p:cNvPr id="13" name="Shape 8"/>
          <p:cNvSpPr/>
          <p:nvPr/>
        </p:nvSpPr>
        <p:spPr>
          <a:xfrm>
            <a:off x="4579144" y="1067991"/>
            <a:ext cx="3986213" cy="378619"/>
          </a:xfrm>
          <a:prstGeom prst="rect">
            <a:avLst/>
          </a:prstGeom>
          <a:solidFill>
            <a:srgbClr val="111827"/>
          </a:solidFill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2610" y="1193006"/>
            <a:ext cx="132159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84770" y="1166217"/>
            <a:ext cx="707092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kern="0" spc="1" dirty="0">
                <a:solidFill>
                  <a:srgbClr val="FFFFFF"/>
                </a:solidFill>
              </a:rPr>
              <a:t>不使用 AI</a:t>
            </a:r>
            <a:endParaRPr lang="en-US" sz="985" dirty="0"/>
          </a:p>
        </p:txBody>
      </p:sp>
      <p:pic>
        <p:nvPicPr>
          <p:cNvPr id="16" name="Image 4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764881" y="1669293"/>
            <a:ext cx="171450" cy="171450"/>
          </a:xfrm>
          <a:prstGeom prst="rect">
            <a:avLst/>
          </a:prstGeom>
        </p:spPr>
      </p:pic>
      <p:sp>
        <p:nvSpPr>
          <p:cNvPr id="17" name="Text 10"/>
          <p:cNvSpPr/>
          <p:nvPr>
            <p:custDataLst>
              <p:tags r:id="rId11"/>
            </p:custDataLst>
          </p:nvPr>
        </p:nvSpPr>
        <p:spPr>
          <a:xfrm>
            <a:off x="5136356" y="1575197"/>
            <a:ext cx="2000250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</a:rPr>
              <a:t>风险等级定义</a:t>
            </a:r>
            <a:endParaRPr lang="en-US" sz="885" dirty="0"/>
          </a:p>
        </p:txBody>
      </p:sp>
      <p:sp>
        <p:nvSpPr>
          <p:cNvPr id="18" name="Text 11"/>
          <p:cNvSpPr/>
          <p:nvPr>
            <p:custDataLst>
              <p:tags r:id="rId12"/>
            </p:custDataLst>
          </p:nvPr>
        </p:nvSpPr>
        <p:spPr>
          <a:xfrm>
            <a:off x="5136356" y="1793081"/>
            <a:ext cx="2000250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B5563"/>
                </a:solidFill>
              </a:rPr>
              <a:t>基于工程标准与管理规范的硬性风险阈值设定</a:t>
            </a:r>
            <a:endParaRPr lang="en-US" sz="725" dirty="0"/>
          </a:p>
        </p:txBody>
      </p:sp>
      <p:pic>
        <p:nvPicPr>
          <p:cNvPr id="19" name="Image 5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764881" y="2291497"/>
            <a:ext cx="171450" cy="171450"/>
          </a:xfrm>
          <a:prstGeom prst="rect">
            <a:avLst/>
          </a:prstGeom>
        </p:spPr>
      </p:pic>
      <p:sp>
        <p:nvSpPr>
          <p:cNvPr id="20" name="Text 12"/>
          <p:cNvSpPr/>
          <p:nvPr>
            <p:custDataLst>
              <p:tags r:id="rId15"/>
            </p:custDataLst>
          </p:nvPr>
        </p:nvSpPr>
        <p:spPr>
          <a:xfrm>
            <a:off x="5136356" y="2197401"/>
            <a:ext cx="2000250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</a:rPr>
              <a:t>最终运维决策</a:t>
            </a:r>
            <a:endParaRPr lang="en-US" sz="885" dirty="0"/>
          </a:p>
        </p:txBody>
      </p:sp>
      <p:sp>
        <p:nvSpPr>
          <p:cNvPr id="21" name="Text 13"/>
          <p:cNvSpPr/>
          <p:nvPr>
            <p:custDataLst>
              <p:tags r:id="rId16"/>
            </p:custDataLst>
          </p:nvPr>
        </p:nvSpPr>
        <p:spPr>
          <a:xfrm>
            <a:off x="5136356" y="2415285"/>
            <a:ext cx="2000250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B5563"/>
                </a:solidFill>
              </a:rPr>
              <a:t>结合实际复杂工况与资源现状的最终执行指令</a:t>
            </a:r>
            <a:endParaRPr lang="en-US" sz="725" dirty="0"/>
          </a:p>
        </p:txBody>
      </p:sp>
      <p:sp>
        <p:nvSpPr>
          <p:cNvPr id="22" name="Shape 14"/>
          <p:cNvSpPr/>
          <p:nvPr/>
        </p:nvSpPr>
        <p:spPr>
          <a:xfrm>
            <a:off x="1714500" y="2898186"/>
            <a:ext cx="5715000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111827"/>
            </a:solidFill>
            <a:prstDash val="solid"/>
          </a:ln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50219" y="2933905"/>
            <a:ext cx="5643563" cy="928688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578644" y="4041186"/>
            <a:ext cx="7986713" cy="492919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25" name="Shape 16"/>
          <p:cNvSpPr/>
          <p:nvPr/>
        </p:nvSpPr>
        <p:spPr>
          <a:xfrm>
            <a:off x="578644" y="4041186"/>
            <a:ext cx="42863" cy="492919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26" name="Text 17"/>
          <p:cNvSpPr/>
          <p:nvPr/>
        </p:nvSpPr>
        <p:spPr>
          <a:xfrm>
            <a:off x="721519" y="4184061"/>
            <a:ext cx="770096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284C7"/>
                </a:solidFill>
              </a:rPr>
              <a:t>AI 提供</a:t>
            </a:r>
            <a:r>
              <a:rPr lang="en-US" sz="985" b="1" dirty="0">
                <a:solidFill>
                  <a:srgbClr val="0284C7"/>
                </a:solidFill>
              </a:rPr>
              <a:t>“可解释的判断依据”</a:t>
            </a:r>
            <a:r>
              <a:rPr lang="en-US" sz="985" b="1" dirty="0">
                <a:solidFill>
                  <a:srgbClr val="0284C7"/>
                </a:solidFill>
              </a:rPr>
              <a:t>，最终决策由人完成。</a:t>
            </a:r>
            <a:endParaRPr lang="en-US" sz="985" dirty="0"/>
          </a:p>
        </p:txBody>
      </p:sp>
      <p:sp>
        <p:nvSpPr>
          <p:cNvPr id="27" name="Shape 7"/>
          <p:cNvSpPr/>
          <p:nvPr/>
        </p:nvSpPr>
        <p:spPr>
          <a:xfrm>
            <a:off x="746919" y="2289697"/>
            <a:ext cx="228600" cy="22860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7563" y="2353991"/>
            <a:ext cx="100013" cy="1000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435769"/>
            <a:ext cx="4620583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</a:rPr>
              <a:t>价值、边界与下一步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8644" y="1139428"/>
            <a:ext cx="228600" cy="228600"/>
          </a:xfrm>
          <a:prstGeom prst="rect">
            <a:avLst/>
          </a:prstGeom>
          <a:solidFill>
            <a:srgbClr val="111827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03722"/>
            <a:ext cx="100013" cy="1000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8681" y="1150144"/>
            <a:ext cx="57150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827"/>
                </a:solidFill>
              </a:rPr>
              <a:t>成功指标</a:t>
            </a:r>
            <a:endParaRPr lang="en-US" sz="985" dirty="0"/>
          </a:p>
        </p:txBody>
      </p:sp>
      <p:sp>
        <p:nvSpPr>
          <p:cNvPr id="7" name="Shape 3"/>
          <p:cNvSpPr/>
          <p:nvPr/>
        </p:nvSpPr>
        <p:spPr>
          <a:xfrm>
            <a:off x="721519" y="1525191"/>
            <a:ext cx="42863" cy="42863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8" name="Text 4"/>
          <p:cNvSpPr/>
          <p:nvPr/>
        </p:nvSpPr>
        <p:spPr>
          <a:xfrm>
            <a:off x="578644" y="1453753"/>
            <a:ext cx="4620583" cy="182863"/>
          </a:xfrm>
          <a:prstGeom prst="rect">
            <a:avLst/>
          </a:prstGeom>
          <a:noFill/>
        </p:spPr>
        <p:txBody>
          <a:bodyPr wrap="none" lIns="357251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111827"/>
                </a:solidFill>
              </a:rPr>
              <a:t>预测精度</a:t>
            </a:r>
            <a:r>
              <a:rPr lang="en-US" sz="835" dirty="0">
                <a:solidFill>
                  <a:srgbClr val="111827"/>
                </a:solidFill>
              </a:rPr>
              <a:t>：模型预测与实际排水情况高度契合，平时误差控制在既定范围内。</a:t>
            </a:r>
            <a:endParaRPr lang="en-US" sz="785" dirty="0"/>
          </a:p>
        </p:txBody>
      </p:sp>
      <p:sp>
        <p:nvSpPr>
          <p:cNvPr id="9" name="Shape 5"/>
          <p:cNvSpPr/>
          <p:nvPr/>
        </p:nvSpPr>
        <p:spPr>
          <a:xfrm>
            <a:off x="721519" y="1765204"/>
            <a:ext cx="42863" cy="42863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10" name="Text 6"/>
          <p:cNvSpPr/>
          <p:nvPr/>
        </p:nvSpPr>
        <p:spPr>
          <a:xfrm>
            <a:off x="578644" y="1693766"/>
            <a:ext cx="4620583" cy="182863"/>
          </a:xfrm>
          <a:prstGeom prst="rect">
            <a:avLst/>
          </a:prstGeom>
          <a:noFill/>
        </p:spPr>
        <p:txBody>
          <a:bodyPr wrap="none" lIns="357251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111827"/>
                </a:solidFill>
              </a:rPr>
              <a:t>预警效能</a:t>
            </a:r>
            <a:r>
              <a:rPr lang="en-US" sz="835" dirty="0">
                <a:solidFill>
                  <a:srgbClr val="111827"/>
                </a:solidFill>
              </a:rPr>
              <a:t>：提前识别风险因素，运维人员对风险判断的满意度（低误报/漏报）。</a:t>
            </a:r>
            <a:endParaRPr lang="en-US" sz="785" dirty="0"/>
          </a:p>
        </p:txBody>
      </p:sp>
      <p:sp>
        <p:nvSpPr>
          <p:cNvPr id="11" name="Shape 7"/>
          <p:cNvSpPr/>
          <p:nvPr/>
        </p:nvSpPr>
        <p:spPr>
          <a:xfrm>
            <a:off x="578644" y="2148092"/>
            <a:ext cx="228600" cy="22860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212386"/>
            <a:ext cx="100013" cy="1000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8681" y="2158808"/>
            <a:ext cx="752968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827"/>
                </a:solidFill>
              </a:rPr>
              <a:t>风险 &amp; 限制</a:t>
            </a:r>
            <a:endParaRPr lang="en-US" sz="985" dirty="0"/>
          </a:p>
        </p:txBody>
      </p:sp>
      <p:sp>
        <p:nvSpPr>
          <p:cNvPr id="14" name="Shape 9"/>
          <p:cNvSpPr/>
          <p:nvPr/>
        </p:nvSpPr>
        <p:spPr>
          <a:xfrm>
            <a:off x="721519" y="2533855"/>
            <a:ext cx="42863" cy="42863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5" name="Text 10"/>
          <p:cNvSpPr/>
          <p:nvPr/>
        </p:nvSpPr>
        <p:spPr>
          <a:xfrm>
            <a:off x="578644" y="2462417"/>
            <a:ext cx="4620583" cy="182863"/>
          </a:xfrm>
          <a:prstGeom prst="rect">
            <a:avLst/>
          </a:prstGeom>
          <a:noFill/>
        </p:spPr>
        <p:txBody>
          <a:bodyPr wrap="none" lIns="357251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111827"/>
                </a:solidFill>
              </a:rPr>
              <a:t>数据质量</a:t>
            </a:r>
            <a:r>
              <a:rPr lang="en-US" sz="835" dirty="0">
                <a:solidFill>
                  <a:srgbClr val="111827"/>
                </a:solidFill>
              </a:rPr>
              <a:t>：基础数据获取渠道的真实性与全面性直接影响模型表现。</a:t>
            </a:r>
            <a:endParaRPr lang="en-US" sz="785" dirty="0"/>
          </a:p>
        </p:txBody>
      </p:sp>
      <p:sp>
        <p:nvSpPr>
          <p:cNvPr id="16" name="Shape 11"/>
          <p:cNvSpPr/>
          <p:nvPr/>
        </p:nvSpPr>
        <p:spPr>
          <a:xfrm>
            <a:off x="721519" y="2773868"/>
            <a:ext cx="42863" cy="42863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7" name="Text 12"/>
          <p:cNvSpPr/>
          <p:nvPr/>
        </p:nvSpPr>
        <p:spPr>
          <a:xfrm>
            <a:off x="578644" y="2702430"/>
            <a:ext cx="4620583" cy="182863"/>
          </a:xfrm>
          <a:prstGeom prst="rect">
            <a:avLst/>
          </a:prstGeom>
          <a:noFill/>
        </p:spPr>
        <p:txBody>
          <a:bodyPr wrap="none" lIns="357251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111827"/>
                </a:solidFill>
              </a:rPr>
              <a:t>极端工况</a:t>
            </a:r>
            <a:r>
              <a:rPr lang="en-US" sz="835" dirty="0">
                <a:solidFill>
                  <a:srgbClr val="111827"/>
                </a:solidFill>
              </a:rPr>
              <a:t>：极端罕见天气或地块属性突变对模型预测存在挑战。</a:t>
            </a:r>
            <a:endParaRPr lang="en-US" sz="785" dirty="0"/>
          </a:p>
        </p:txBody>
      </p:sp>
      <p:sp>
        <p:nvSpPr>
          <p:cNvPr id="18" name="Shape 13"/>
          <p:cNvSpPr/>
          <p:nvPr/>
        </p:nvSpPr>
        <p:spPr>
          <a:xfrm>
            <a:off x="578644" y="3156756"/>
            <a:ext cx="228600" cy="228600"/>
          </a:xfrm>
          <a:prstGeom prst="rect">
            <a:avLst/>
          </a:prstGeom>
          <a:solidFill>
            <a:srgbClr val="0284C7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221050"/>
            <a:ext cx="100013" cy="1000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8681" y="3167472"/>
            <a:ext cx="85725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827"/>
                </a:solidFill>
              </a:rPr>
              <a:t>后续优化方向</a:t>
            </a:r>
            <a:endParaRPr lang="en-US" sz="985" dirty="0"/>
          </a:p>
        </p:txBody>
      </p:sp>
      <p:sp>
        <p:nvSpPr>
          <p:cNvPr id="21" name="Shape 15"/>
          <p:cNvSpPr/>
          <p:nvPr/>
        </p:nvSpPr>
        <p:spPr>
          <a:xfrm>
            <a:off x="721519" y="3542519"/>
            <a:ext cx="42863" cy="42863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22" name="Text 16"/>
          <p:cNvSpPr/>
          <p:nvPr/>
        </p:nvSpPr>
        <p:spPr>
          <a:xfrm>
            <a:off x="578644" y="3471081"/>
            <a:ext cx="4620583" cy="182863"/>
          </a:xfrm>
          <a:prstGeom prst="rect">
            <a:avLst/>
          </a:prstGeom>
          <a:noFill/>
        </p:spPr>
        <p:txBody>
          <a:bodyPr wrap="none" lIns="357251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111827"/>
                </a:solidFill>
              </a:rPr>
              <a:t>精细化建模</a:t>
            </a:r>
            <a:r>
              <a:rPr lang="en-US" sz="835" dirty="0">
                <a:solidFill>
                  <a:srgbClr val="111827"/>
                </a:solidFill>
              </a:rPr>
              <a:t>：分地块建立精细模型，降低局部变动对全局预测的影响。</a:t>
            </a:r>
            <a:endParaRPr lang="en-US" sz="785" dirty="0"/>
          </a:p>
        </p:txBody>
      </p:sp>
      <p:sp>
        <p:nvSpPr>
          <p:cNvPr id="23" name="Shape 17"/>
          <p:cNvSpPr/>
          <p:nvPr/>
        </p:nvSpPr>
        <p:spPr>
          <a:xfrm>
            <a:off x="721519" y="3782532"/>
            <a:ext cx="42863" cy="42863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24" name="Text 18"/>
          <p:cNvSpPr/>
          <p:nvPr/>
        </p:nvSpPr>
        <p:spPr>
          <a:xfrm>
            <a:off x="578644" y="3711094"/>
            <a:ext cx="4620583" cy="182863"/>
          </a:xfrm>
          <a:prstGeom prst="rect">
            <a:avLst/>
          </a:prstGeom>
          <a:noFill/>
        </p:spPr>
        <p:txBody>
          <a:bodyPr wrap="none" lIns="357251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111827"/>
                </a:solidFill>
              </a:rPr>
              <a:t>实时化对接</a:t>
            </a:r>
            <a:r>
              <a:rPr lang="en-US" sz="835" dirty="0">
                <a:solidFill>
                  <a:srgbClr val="111827"/>
                </a:solidFill>
              </a:rPr>
              <a:t>：与运维系统深度集成，实现数据端到决策端的秒级响应。</a:t>
            </a:r>
            <a:endParaRPr lang="en-US" sz="785" dirty="0"/>
          </a:p>
        </p:txBody>
      </p:sp>
      <p:sp>
        <p:nvSpPr>
          <p:cNvPr id="25" name="Shape 19"/>
          <p:cNvSpPr/>
          <p:nvPr/>
        </p:nvSpPr>
        <p:spPr>
          <a:xfrm>
            <a:off x="5484977" y="1357313"/>
            <a:ext cx="3080379" cy="2857500"/>
          </a:xfrm>
          <a:prstGeom prst="rect">
            <a:avLst/>
          </a:prstGeom>
          <a:solidFill>
            <a:srgbClr val="FFFFFF"/>
          </a:solidFill>
          <a:ln w="9144">
            <a:solidFill>
              <a:srgbClr val="111827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6414" y="1428750"/>
            <a:ext cx="2937504" cy="2714625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144" y="4480917"/>
            <a:ext cx="9129713" cy="655439"/>
          </a:xfrm>
          <a:prstGeom prst="rect">
            <a:avLst/>
          </a:prstGeom>
          <a:solidFill>
            <a:srgbClr val="111827"/>
          </a:solidFill>
        </p:spPr>
      </p:sp>
      <p:sp>
        <p:nvSpPr>
          <p:cNvPr id="28" name="Text 21"/>
          <p:cNvSpPr/>
          <p:nvPr/>
        </p:nvSpPr>
        <p:spPr>
          <a:xfrm>
            <a:off x="7144" y="4480917"/>
            <a:ext cx="9129713" cy="655439"/>
          </a:xfrm>
          <a:prstGeom prst="rect">
            <a:avLst/>
          </a:prstGeom>
          <a:noFill/>
        </p:spPr>
        <p:txBody>
          <a:bodyPr wrap="square" lIns="680339" tIns="255143" rIns="680339" bIns="255143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284C7"/>
                </a:solidFill>
              </a:rPr>
              <a:t>本产品是一个以 </a:t>
            </a:r>
            <a:r>
              <a:rPr lang="en-US" sz="1090" b="1" dirty="0">
                <a:solidFill>
                  <a:srgbClr val="0284C7"/>
                </a:solidFill>
              </a:rPr>
              <a:t>“降低运维不确定性”</a:t>
            </a:r>
            <a:r>
              <a:rPr lang="en-US" sz="1090" b="1" dirty="0">
                <a:solidFill>
                  <a:srgbClr val="0284C7"/>
                </a:solidFill>
              </a:rPr>
              <a:t> 为目标的 AI 辅助决策系统。</a:t>
            </a:r>
            <a:endParaRPr lang="en-US" sz="109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77.1723622047244,&quot;left&quot;:89.43748031496062,&quot;top&quot;:124.03125984251969,&quot;width&quot;:472.5}"/>
</p:tagLst>
</file>

<file path=ppt/tags/tag2.xml><?xml version="1.0" encoding="utf-8"?>
<p:tagLst xmlns:p="http://schemas.openxmlformats.org/presentationml/2006/main">
  <p:tag name="KSO_WM_DIAGRAM_VIRTUALLY_FRAME" val="{&quot;height&quot;:77.1723622047244,&quot;left&quot;:89.43748031496062,&quot;top&quot;:124.03125984251969,&quot;width&quot;:472.5}"/>
</p:tagLst>
</file>

<file path=ppt/tags/tag3.xml><?xml version="1.0" encoding="utf-8"?>
<p:tagLst xmlns:p="http://schemas.openxmlformats.org/presentationml/2006/main">
  <p:tag name="KSO_WM_DIAGRAM_VIRTUALLY_FRAME" val="{&quot;height&quot;:77.1723622047244,&quot;left&quot;:89.43748031496062,&quot;top&quot;:124.03125984251969,&quot;width&quot;:472.5}"/>
</p:tagLst>
</file>

<file path=ppt/tags/tag4.xml><?xml version="1.0" encoding="utf-8"?>
<p:tagLst xmlns:p="http://schemas.openxmlformats.org/presentationml/2006/main">
  <p:tag name="KSO_WM_DIAGRAM_VIRTUALLY_FRAME" val="{&quot;height&quot;:77.1723622047244,&quot;left&quot;:89.43748031496062,&quot;top&quot;:124.03125984251969,&quot;width&quot;:472.5}"/>
</p:tagLst>
</file>

<file path=ppt/tags/tag5.xml><?xml version="1.0" encoding="utf-8"?>
<p:tagLst xmlns:p="http://schemas.openxmlformats.org/presentationml/2006/main">
  <p:tag name="KSO_WM_DIAGRAM_VIRTUALLY_FRAME" val="{&quot;height&quot;:77.1723622047244,&quot;left&quot;:89.43748031496062,&quot;top&quot;:124.03125984251969,&quot;width&quot;:472.5}"/>
</p:tagLst>
</file>

<file path=ppt/tags/tag6.xml><?xml version="1.0" encoding="utf-8"?>
<p:tagLst xmlns:p="http://schemas.openxmlformats.org/presentationml/2006/main">
  <p:tag name="KSO_WM_DIAGRAM_VIRTUALLY_FRAME" val="{&quot;height&quot;:77.1723622047244,&quot;left&quot;:89.43748031496062,&quot;top&quot;:124.03125984251969,&quot;width&quot;:472.5}"/>
</p:tagLst>
</file>

<file path=ppt/tags/tag7.xml><?xml version="1.0" encoding="utf-8"?>
<p:tagLst xmlns:p="http://schemas.openxmlformats.org/presentationml/2006/main">
  <p:tag name="KSO_WM_DIAGRAM_VIRTUALLY_FRAME" val="{&quot;height&quot;:77.1723622047244,&quot;left&quot;:89.43748031496062,&quot;top&quot;:124.03125984251969,&quot;width&quot;:472.5}"/>
</p:tagLst>
</file>

<file path=ppt/tags/tag8.xml><?xml version="1.0" encoding="utf-8"?>
<p:tagLst xmlns:p="http://schemas.openxmlformats.org/presentationml/2006/main">
  <p:tag name="KSO_WM_DIAGRAM_VIRTUALLY_FRAME" val="{&quot;height&quot;:77.1723622047244,&quot;left&quot;:89.43748031496062,&quot;top&quot;:124.03125984251969,&quot;width&quot;:472.5}"/>
</p:tagLst>
</file>

<file path=ppt/tags/tag9.xml><?xml version="1.0" encoding="utf-8"?>
<p:tagLst xmlns:p="http://schemas.openxmlformats.org/presentationml/2006/main">
  <p:tag name="KSO_WM_DIAGRAM_VIRTUALLY_FRAME" val="{&quot;height&quot;:77.1723622047244,&quot;left&quot;:89.43748031496062,&quot;top&quot;:124.03125984251969,&quot;width&quot;:472.5}"/>
</p:tagLst>
</file>

<file path=ppt/tags/tag10.xml><?xml version="1.0" encoding="utf-8"?>
<p:tagLst xmlns:p="http://schemas.openxmlformats.org/presentationml/2006/main">
  <p:tag name="KSO_WM_DIAGRAM_VIRTUALLY_FRAME" val="{&quot;height&quot;:77.1723622047244,&quot;left&quot;:89.43748031496062,&quot;top&quot;:124.03125984251969,&quot;width&quot;:472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1145</Words>
  <Application>WPS 演示</Application>
  <PresentationFormat>On-screen Show (16:9)</PresentationFormat>
  <Paragraphs>130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WPS_1615513796</cp:lastModifiedBy>
  <cp:revision>2</cp:revision>
  <dcterms:created xsi:type="dcterms:W3CDTF">2026-01-11T03:21:00Z</dcterms:created>
  <dcterms:modified xsi:type="dcterms:W3CDTF">2026-01-12T02:07:04Z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473DE251576242DD9E91E3A0D2E6DB55_12</vt:lpwstr>
  </property>
</Properties>
</file>